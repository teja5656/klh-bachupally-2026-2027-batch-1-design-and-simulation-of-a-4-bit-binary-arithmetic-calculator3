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152525"/>
            <a:ext cx="11601450" cy="10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0" i="0" u="none">
                <a:solidFill>
                  <a:srgbClr val="FFFFFF"/>
                </a:solidFill>
                <a:latin typeface="Poppins ExtraBold"/>
              </a:rPr>
              <a:t>Design and Simulation of a 4-bit Binary Arithmetic Calculator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F2C60C-A2DA-42A3-D7BC-4C0E058B871A}"/>
              </a:ext>
            </a:extLst>
          </p:cNvPr>
          <p:cNvSpPr txBox="1"/>
          <p:nvPr/>
        </p:nvSpPr>
        <p:spPr>
          <a:xfrm>
            <a:off x="7374194" y="5070987"/>
            <a:ext cx="50740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Batch Number:1</a:t>
            </a:r>
          </a:p>
          <a:p>
            <a:r>
              <a:rPr lang="en-US" dirty="0" err="1">
                <a:solidFill>
                  <a:schemeClr val="bg1"/>
                </a:solidFill>
              </a:rPr>
              <a:t>Thummeti</a:t>
            </a:r>
            <a:r>
              <a:rPr lang="en-US" dirty="0">
                <a:solidFill>
                  <a:schemeClr val="bg1"/>
                </a:solidFill>
              </a:rPr>
              <a:t> Teja-2620030003</a:t>
            </a:r>
          </a:p>
          <a:p>
            <a:r>
              <a:rPr lang="en-US" dirty="0">
                <a:solidFill>
                  <a:schemeClr val="bg1"/>
                </a:solidFill>
              </a:rPr>
              <a:t>Prakash Machgaiya-2620030067</a:t>
            </a:r>
          </a:p>
          <a:p>
            <a:r>
              <a:rPr lang="en-IN" sz="1800" b="0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ANANYA  MALKAPURAM-262003006</a:t>
            </a:r>
            <a:r>
              <a:rPr lang="en-IN" dirty="0">
                <a:solidFill>
                  <a:schemeClr val="bg1"/>
                </a:solidFill>
                <a:latin typeface="Aptos Narrow" panose="020B0004020202020204" pitchFamily="34" charset="0"/>
              </a:rPr>
              <a:t>0</a:t>
            </a:r>
            <a:endParaRPr lang="en-IN" sz="1800" b="0" i="0" u="none" strike="noStrike" dirty="0">
              <a:solidFill>
                <a:schemeClr val="bg1"/>
              </a:solidFill>
              <a:effectLst/>
              <a:latin typeface="Aptos Narrow" panose="020B0004020202020204" pitchFamily="34" charset="0"/>
            </a:endParaRPr>
          </a:p>
          <a:p>
            <a:r>
              <a:rPr lang="en-IN" sz="1800" b="0" i="0" u="none" strike="noStrike" dirty="0">
                <a:solidFill>
                  <a:schemeClr val="bg1"/>
                </a:solidFill>
                <a:effectLst/>
                <a:latin typeface="Aptos Narrow" panose="020B0004020202020204" pitchFamily="34" charset="0"/>
              </a:rPr>
              <a:t>Sai Lakshmi Harshini  Pemmaraju-2620030063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66925"/>
            <a:ext cx="5381625" cy="3476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066925"/>
            <a:ext cx="5381625" cy="34766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9200" y="2381250"/>
            <a:ext cx="4640580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40AF"/>
                </a:solidFill>
                <a:latin typeface="Poppins"/>
              </a:rPr>
              <a:t>Domain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2828925"/>
            <a:ext cx="47529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Binary arithmetic units form the fundamental computational backbone of modern microprocessors, digital signal processors (DSPs), and embedded microcontrollers.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629025"/>
            <a:ext cx="47529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At the lowest hardware level, all mathematical computations are executed using combinations of combinational logic elements that process binary signals (0 and 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429125"/>
            <a:ext cx="47529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Understanding a 4-bit arithmetic system provides crucial insights into central processing unit (CPU) ALU architecture and bus communication.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9425" y="2381250"/>
            <a:ext cx="4700587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40AF"/>
                </a:solidFill>
                <a:latin typeface="Poppins"/>
              </a:rPr>
              <a:t>Significance &amp; Relevance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2828925"/>
            <a:ext cx="47529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Low-Latency Hardware Execution: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Dedicated logic gates enable single-clock cycle addition, subtraction, and bitwise logic operations.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629025"/>
            <a:ext cx="47529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Educational &amp; Industrial Value: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Demonstrates the conversion from Boolean algebraic equations to optimized schematics and Hardware Description Language (HDL).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4429125"/>
            <a:ext cx="4752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Simulation Verification: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Pre-fabrication verification eliminates design errors before physical ASIC or FPGA synthesis.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433637"/>
            <a:ext cx="23812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200" y="2433637"/>
            <a:ext cx="180975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4887" y="476250"/>
            <a:ext cx="1114639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Project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883943"/>
            <a:ext cx="11049000" cy="838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888331"/>
            <a:ext cx="3530649" cy="28051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749" y="1888331"/>
            <a:ext cx="3530649" cy="2805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999" y="1888331"/>
            <a:ext cx="3530649" cy="2805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5074443"/>
            <a:ext cx="106203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1E3A8A"/>
                </a:solidFill>
                <a:latin typeface="Inter"/>
              </a:rPr>
              <a:t>Core Objective:</a:t>
            </a:r>
            <a:r>
              <a:rPr sz="1200" b="0" i="0" u="none">
                <a:solidFill>
                  <a:srgbClr val="1E3A8A"/>
                </a:solidFill>
                <a:latin typeface="Inter Medium"/>
              </a:rPr>
              <a:t> To overcome these drawbacks, this project designs an integrated, multi-mode 4-bit binary calculator that unifies arithmetic and logic functions using multiplexed logic blocks verified via software simulation.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2164556"/>
            <a:ext cx="495300" cy="495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9625" y="2831306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Hardware Complexity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231356"/>
            <a:ext cx="305439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Traditional discrete implementations use separate dedicated ICs for each arithmetic and logic operation, leading to high chip count, severe board area wastage, and complex trace routing.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8874" y="2164556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68874" y="2831306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Propagation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8874" y="3231356"/>
            <a:ext cx="30543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Unoptimized cascaded full adders introduce cumulative ripple-carry propagation delays, limiting operational frequency and overall system throughput in multi-bit calculations.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28124" y="2164556"/>
            <a:ext cx="495300" cy="4953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28124" y="2831306"/>
            <a:ext cx="320711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oppins"/>
              </a:rPr>
              <a:t>Inflexible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8124" y="3231356"/>
            <a:ext cx="305439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Without integrated multiplexing and control logic, switching between arithmetic (ADD/SUB) and logic operations (AND/OR/XOR) requires manual hardware re-wiring.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7262" y="2297906"/>
            <a:ext cx="20002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16512" y="2297906"/>
            <a:ext cx="200025" cy="2286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1474" y="2297906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4887" y="476250"/>
            <a:ext cx="1114639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solidFill>
                  <a:srgbClr val="1E293B"/>
                </a:solidFill>
                <a:latin typeface="Poppins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52612"/>
            <a:ext cx="11049000" cy="862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67025"/>
            <a:ext cx="11049000" cy="8620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81437"/>
            <a:ext cx="11049000" cy="8620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895850"/>
            <a:ext cx="11049000" cy="8620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071687"/>
            <a:ext cx="190500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81100" y="2033587"/>
            <a:ext cx="9109419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oppins"/>
              </a:rPr>
              <a:t>4-Bit Combinational Core Development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1100" y="2319337"/>
            <a:ext cx="8675637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Design a 4-bit arithmetic circuit capable of executing Binary Addition and 2's Complement Subtraction for inputs up to 15 (1111₂).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086100"/>
            <a:ext cx="17145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62050" y="3048000"/>
            <a:ext cx="908113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oppins"/>
              </a:rPr>
              <a:t>Bitwise Logic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2050" y="3333750"/>
            <a:ext cx="8648700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Incorporate a bitwise logic engine performing AND, OR, and XOR functions across two 4-bit operand vectors (A[3:0] and B[3:0]).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4100512"/>
            <a:ext cx="238125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28725" y="4062412"/>
            <a:ext cx="964120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oppins"/>
              </a:rPr>
              <a:t>Multiplexed Control &amp; Status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8725" y="4348162"/>
            <a:ext cx="9182100" cy="2015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Implement a 4x1 Multiplexer control stage to dynamically select target outputs while tracking Carry-Out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Cout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5114925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81100" y="5076825"/>
            <a:ext cx="10491311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oppins"/>
              </a:rPr>
              <a:t>Simulation &amp; Timing Verification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1100" y="5362575"/>
            <a:ext cx="9991725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Simulate circuit schematics and Verilog RTL modules using Xilinx Design Suite / Proteus to validate truth table responses and measure signal delay.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887" y="476250"/>
            <a:ext cx="11146393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Key Objectives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66925"/>
            <a:ext cx="5381625" cy="34766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66925"/>
            <a:ext cx="5381625" cy="3476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200" y="4067175"/>
            <a:ext cx="4752975" cy="628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47775" y="2381250"/>
            <a:ext cx="4610576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40AF"/>
                </a:solidFill>
                <a:latin typeface="Poppins"/>
              </a:rPr>
              <a:t>Architectural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2828925"/>
            <a:ext cx="47529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Integrated Functionality: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Combines a 4-bit Parallel Adder-Subtractor with a 4-bit Bitwise Logic Array connected to a 4x1 MUX.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629025"/>
            <a:ext cx="47529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334155"/>
                </a:solidFill>
                <a:latin typeface="Inter"/>
              </a:rPr>
              <a:t>2's Complement Subtraction: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Uses XOR gates on Input B controlled by mode selector $M$. When $M=1$, Input B is inverted and Cin=1, executing </a:t>
            </a:r>
            <a:endParaRPr lang="en-US" sz="1200" b="0" i="0" u="none" dirty="0">
              <a:solidFill>
                <a:srgbClr val="334155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334155"/>
                </a:solidFill>
                <a:latin typeface="Inter"/>
              </a:rPr>
              <a:t>A + bar{B} + 1</a:t>
            </a:r>
            <a:r>
              <a:rPr lang="en-US" sz="1200" dirty="0">
                <a:solidFill>
                  <a:srgbClr val="334155"/>
                </a:solidFill>
                <a:latin typeface="Inter"/>
              </a:rPr>
              <a:t>.</a:t>
            </a:r>
            <a:endParaRPr sz="12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5825" y="4429125"/>
            <a:ext cx="47529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Unified Bus Output: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All computational sub-modules feed into a 4-bit wide multiplexer array, yielding a single unified 4-bit result output.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381250"/>
            <a:ext cx="4670583" cy="3143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>
                <a:solidFill>
                  <a:srgbClr val="1E40AF"/>
                </a:solidFill>
                <a:latin typeface="Poppins"/>
              </a:rPr>
              <a:t>Key Features &amp; Capabilities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2828925"/>
            <a:ext cx="47529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334155"/>
                </a:solidFill>
                <a:latin typeface="Inter"/>
              </a:rPr>
              <a:t>5 Operational Modes: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Addition, Subtraction, Bitwise AND, Bitwise OR, and Bitwise XOR.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3400425"/>
            <a:ext cx="4752975" cy="21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>
                <a:solidFill>
                  <a:srgbClr val="334155"/>
                </a:solidFill>
                <a:latin typeface="Inter"/>
              </a:rPr>
              <a:t>Flag Signals: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 Real-time detection of Carry-Out (</a:t>
            </a:r>
            <a:r>
              <a:rPr sz="1200" b="0" i="0" u="none" dirty="0" err="1">
                <a:solidFill>
                  <a:srgbClr val="334155"/>
                </a:solidFill>
                <a:latin typeface="Inter"/>
              </a:rPr>
              <a:t>Cout</a:t>
            </a:r>
            <a:r>
              <a:rPr sz="1200" b="0" i="0" u="none" dirty="0">
                <a:solidFill>
                  <a:srgbClr val="334155"/>
                </a:solidFill>
                <a:latin typeface="Inter"/>
              </a:rPr>
              <a:t>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825" y="2433637"/>
            <a:ext cx="26670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3200" y="2433637"/>
            <a:ext cx="20955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24650" y="4181475"/>
            <a:ext cx="44100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38BDF8"/>
                </a:solidFill>
                <a:latin typeface="monospace"/>
              </a:rPr>
              <a:t>Arithmetic Subtraction Formula:</a:t>
            </a:r>
            <a:r>
              <a:t>
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4650" y="4419600"/>
            <a:ext cx="1689050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2987" y="476250"/>
            <a:ext cx="11106388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Proposed Calculator 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95487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1681162"/>
            <a:ext cx="5153025" cy="962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776537"/>
            <a:ext cx="5153025" cy="962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871912"/>
            <a:ext cx="5153025" cy="962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967287"/>
            <a:ext cx="5153024" cy="9620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475" y="1824037"/>
            <a:ext cx="522065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Poppins"/>
              </a:rPr>
              <a:t>1. Input Operand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2475" y="2100262"/>
            <a:ext cx="4972050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DIP Switches feed two 4-bit binary numbers A[3:0] and B[3:0] into internal data buses.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2475" y="2919412"/>
            <a:ext cx="522065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Poppins"/>
              </a:rPr>
              <a:t>2. Controlled Inverter Array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3195637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Mode pin M controls XOR array to pass B unchanged (M=0) or invert B for 2's complement (M=1).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4014787"/>
            <a:ext cx="522065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Poppins"/>
              </a:rPr>
              <a:t>3. 4-Bit Ripple Carry Adder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4291012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Cascaded full adders process sum outputs S_0..S_3 and pass carry bits C_0 \</a:t>
            </a:r>
            <a:r>
              <a:rPr sz="1050" b="0" i="0" u="none" dirty="0" err="1">
                <a:solidFill>
                  <a:srgbClr val="475569"/>
                </a:solidFill>
                <a:latin typeface="Inter"/>
              </a:rPr>
              <a:t>rightarrow</a:t>
            </a:r>
            <a:r>
              <a:rPr sz="1050" b="0" i="0" u="none" dirty="0">
                <a:solidFill>
                  <a:srgbClr val="475569"/>
                </a:solidFill>
                <a:latin typeface="Inter"/>
              </a:rPr>
              <a:t> C_3$.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475" y="5110162"/>
            <a:ext cx="522065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Poppins"/>
              </a:rPr>
              <a:t>4. MUX Selector &amp; Display Stage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5386387"/>
            <a:ext cx="4972050" cy="1894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 dirty="0">
                <a:solidFill>
                  <a:srgbClr val="475569"/>
                </a:solidFill>
                <a:latin typeface="Inter"/>
              </a:rPr>
              <a:t>Selectors S_1, S_0 route selected result to output LEDs and BCD 7-segment driver.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612" y="476250"/>
            <a:ext cx="11056381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Block Diagram &amp; Signal Flow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41A4FA-8CE7-B046-CFA5-2F10D9FFA3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4525" y="962025"/>
            <a:ext cx="6467475" cy="55272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38350"/>
            <a:ext cx="11049000" cy="1076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67075"/>
            <a:ext cx="11049000" cy="1076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495800"/>
            <a:ext cx="11049000" cy="10763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257425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1100" y="2219325"/>
            <a:ext cx="6200775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oppins"/>
              </a:rPr>
              <a:t>Full Adder Logic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2505075"/>
            <a:ext cx="5905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Each bit position utilizes a Full Adder described by standard Boolean logic expressions: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 | 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3486150"/>
            <a:ext cx="142875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33475" y="3448050"/>
            <a:ext cx="6470808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oppins"/>
              </a:rPr>
              <a:t>Adder/Subtractor Mode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475" y="3733800"/>
            <a:ext cx="616267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For Addition ($M=0$): $C_{in}=0$, Input B is untouched. 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For Subtraction ($M=1$): $C_{in}=1$, Input B is bitwise inverted giving $A + B' + 1 = A - B$.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4714875"/>
            <a:ext cx="238125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28725" y="4676775"/>
            <a:ext cx="5931366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oppins"/>
              </a:rPr>
              <a:t>Multiplexer Routing Table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8725" y="4962525"/>
            <a:ext cx="564892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Control lines ($S_1, S_0$) select the operational unit output: 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00 = Arithmetic (ADD/SUB) | 01 = Bitwise AND | 10 = Bitwise OR | 11 = Bitwise XOR.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1100" y="2776537"/>
            <a:ext cx="1330374" cy="127992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11499" y="2767012"/>
            <a:ext cx="2622946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42987" y="476250"/>
            <a:ext cx="11106388" cy="48577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1E293B"/>
                </a:solidFill>
                <a:latin typeface="Poppins"/>
              </a:rPr>
              <a:t>Design Methodology &amp; Logic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347" y="2049089"/>
            <a:ext cx="10647106" cy="3190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3950" y="2516229"/>
            <a:ext cx="4780597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1" i="0" u="none" dirty="0">
                <a:solidFill>
                  <a:srgbClr val="FFC000"/>
                </a:solidFill>
                <a:latin typeface="Poppins"/>
              </a:rPr>
              <a:t>Project Achievements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6325" y="2952750"/>
            <a:ext cx="4600575" cy="660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i="0" u="none" dirty="0">
                <a:solidFill>
                  <a:schemeClr val="bg1"/>
                </a:solidFill>
                <a:latin typeface="Inter"/>
              </a:rPr>
              <a:t>Successfully designed and validated a multi-functional 4-bit binary arithmetic and logic calculator unit.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6900" y="2984090"/>
            <a:ext cx="4600575" cy="660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i="0" u="none" dirty="0">
                <a:solidFill>
                  <a:schemeClr val="bg1"/>
                </a:solidFill>
                <a:latin typeface="Inter"/>
              </a:rPr>
              <a:t>Integrated 2's complement signed/unsigned subtraction with automatic carry and overflow status flags.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4038600"/>
            <a:ext cx="4600575" cy="6604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i="0" u="none" dirty="0">
                <a:solidFill>
                  <a:schemeClr val="bg1"/>
                </a:solidFill>
                <a:latin typeface="Inter"/>
              </a:rPr>
              <a:t>Verified functional timing responses and switching waveforms via Xilinx ISE / Proteus simulation.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6900" y="4094805"/>
            <a:ext cx="4600575" cy="4424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i="0" u="none" dirty="0">
                <a:solidFill>
                  <a:schemeClr val="bg1"/>
                </a:solidFill>
                <a:latin typeface="Inter"/>
              </a:rPr>
              <a:t>Achieved minimal chip footprint through effective multiplexer bus sharing.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967" y="522930"/>
            <a:ext cx="11186398" cy="39241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 dirty="0">
                <a:latin typeface="Poppins"/>
              </a:rPr>
              <a:t>Conclusion</a:t>
            </a:r>
            <a:r>
              <a:rPr sz="2550" b="1" i="0" u="none" dirty="0">
                <a:solidFill>
                  <a:srgbClr val="F8FAFC"/>
                </a:solidFill>
                <a:latin typeface="Poppins"/>
              </a:rPr>
              <a:t> </a:t>
            </a:r>
            <a:r>
              <a:rPr lang="en-US" sz="2550" b="1" i="0" u="none" dirty="0">
                <a:latin typeface="Poppins"/>
              </a:rPr>
              <a:t>: </a:t>
            </a:r>
            <a:endParaRPr sz="2550" b="1" i="0" u="none" dirty="0">
              <a:solidFill>
                <a:srgbClr val="F8FAFC"/>
              </a:solidFill>
              <a:latin typeface="Poppins"/>
            </a:endParaRPr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928239C5-EF9F-43D3-7769-5FC08C44019A}"/>
              </a:ext>
            </a:extLst>
          </p:cNvPr>
          <p:cNvSpPr/>
          <p:nvPr/>
        </p:nvSpPr>
        <p:spPr>
          <a:xfrm>
            <a:off x="715451" y="2912413"/>
            <a:ext cx="251336" cy="3693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E7965A6-6897-AF2F-E34F-A9C5A7605C42}"/>
              </a:ext>
            </a:extLst>
          </p:cNvPr>
          <p:cNvSpPr/>
          <p:nvPr/>
        </p:nvSpPr>
        <p:spPr>
          <a:xfrm>
            <a:off x="5316026" y="2944976"/>
            <a:ext cx="251336" cy="3693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C000"/>
              </a:solidFill>
            </a:endParaRP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93D0B6DB-0C3B-B653-9C04-795C81700384}"/>
              </a:ext>
            </a:extLst>
          </p:cNvPr>
          <p:cNvSpPr/>
          <p:nvPr/>
        </p:nvSpPr>
        <p:spPr>
          <a:xfrm>
            <a:off x="678299" y="4071901"/>
            <a:ext cx="251336" cy="3693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293ECB2C-700F-1894-3EF6-24413613CA56}"/>
              </a:ext>
            </a:extLst>
          </p:cNvPr>
          <p:cNvSpPr/>
          <p:nvPr/>
        </p:nvSpPr>
        <p:spPr>
          <a:xfrm>
            <a:off x="5291907" y="4047460"/>
            <a:ext cx="251336" cy="36933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69A1F0-331F-7BAC-98B9-604E153B8899}"/>
              </a:ext>
            </a:extLst>
          </p:cNvPr>
          <p:cNvSpPr txBox="1"/>
          <p:nvPr/>
        </p:nvSpPr>
        <p:spPr>
          <a:xfrm>
            <a:off x="968477" y="2644170"/>
            <a:ext cx="102550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>
                <a:solidFill>
                  <a:srgbClr val="FF0000"/>
                </a:solidFill>
                <a:latin typeface="Freestyle Script" panose="030804020302050B0404" pitchFamily="66" charset="0"/>
              </a:rPr>
              <a:t>Thank You</a:t>
            </a:r>
            <a:endParaRPr lang="en-IN" sz="9600" dirty="0">
              <a:solidFill>
                <a:srgbClr val="FF0000"/>
              </a:solidFill>
              <a:latin typeface="Freestyle Script" panose="030804020302050B04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3864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820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Aptos Narrow</vt:lpstr>
      <vt:lpstr>Arial</vt:lpstr>
      <vt:lpstr>Calibri</vt:lpstr>
      <vt:lpstr>Freestyle Script</vt:lpstr>
      <vt:lpstr>Inter</vt:lpstr>
      <vt:lpstr>Inter Medium</vt:lpstr>
      <vt:lpstr>monospace</vt:lpstr>
      <vt:lpstr>Poppins</vt:lpstr>
      <vt:lpstr>Poppins ExtraBold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Teja T</cp:lastModifiedBy>
  <cp:revision>6</cp:revision>
  <dcterms:created xsi:type="dcterms:W3CDTF">2013-01-27T09:14:16Z</dcterms:created>
  <dcterms:modified xsi:type="dcterms:W3CDTF">2026-09-12T03:14:34Z</dcterms:modified>
  <cp:category/>
</cp:coreProperties>
</file>