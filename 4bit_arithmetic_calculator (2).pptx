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82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0F3057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005840"/>
            <a:ext cx="2377440" cy="0"/>
          </a:xfrm>
          <a:prstGeom prst="line">
            <a:avLst/>
          </a:prstGeom>
          <a:noFill/>
          <a:ln w="19050">
            <a:solidFill>
              <a:srgbClr val="5FBF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96012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96012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0" y="2240280"/>
            <a:ext cx="2377440" cy="0"/>
          </a:xfrm>
          <a:prstGeom prst="line">
            <a:avLst/>
          </a:prstGeom>
          <a:noFill/>
          <a:ln w="19050">
            <a:solidFill>
              <a:srgbClr val="5FBF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0" y="219456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8" name="Shape 6"/>
          <p:cNvSpPr/>
          <p:nvPr/>
        </p:nvSpPr>
        <p:spPr>
          <a:xfrm>
            <a:off x="11658600" y="219456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0" y="3474720"/>
            <a:ext cx="2377440" cy="0"/>
          </a:xfrm>
          <a:prstGeom prst="line">
            <a:avLst/>
          </a:prstGeom>
          <a:noFill/>
          <a:ln w="19050">
            <a:solidFill>
              <a:srgbClr val="5FBF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342900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1" name="Shape 9"/>
          <p:cNvSpPr/>
          <p:nvPr/>
        </p:nvSpPr>
        <p:spPr>
          <a:xfrm>
            <a:off x="11658600" y="342900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8320" y="4709160"/>
            <a:ext cx="2377440" cy="0"/>
          </a:xfrm>
          <a:prstGeom prst="line">
            <a:avLst/>
          </a:prstGeom>
          <a:noFill/>
          <a:ln w="19050">
            <a:solidFill>
              <a:srgbClr val="5FBF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81160" y="466344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58600" y="4663440"/>
            <a:ext cx="91440" cy="914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PROJECT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192024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Binary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Calculator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B188E1-5A87-9B74-5937-F5ADB541F814}"/>
              </a:ext>
            </a:extLst>
          </p:cNvPr>
          <p:cNvSpPr txBox="1"/>
          <p:nvPr/>
        </p:nvSpPr>
        <p:spPr>
          <a:xfrm>
            <a:off x="731520" y="4754880"/>
            <a:ext cx="47640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Batch Number:1</a:t>
            </a:r>
          </a:p>
          <a:p>
            <a:r>
              <a:rPr lang="en-US" dirty="0" err="1">
                <a:solidFill>
                  <a:schemeClr val="bg1"/>
                </a:solidFill>
              </a:rPr>
              <a:t>Thummeti</a:t>
            </a:r>
            <a:r>
              <a:rPr lang="en-US" dirty="0">
                <a:solidFill>
                  <a:schemeClr val="bg1"/>
                </a:solidFill>
              </a:rPr>
              <a:t> Teja-2620030003</a:t>
            </a:r>
          </a:p>
          <a:p>
            <a:r>
              <a:rPr lang="en-US" dirty="0">
                <a:solidFill>
                  <a:schemeClr val="bg1"/>
                </a:solidFill>
              </a:rPr>
              <a:t>Prakash Machgaiya-2620030067</a:t>
            </a:r>
          </a:p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Ananya Malkapuram-262003006</a:t>
            </a:r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0</a:t>
            </a:r>
            <a:endParaRPr lang="en-IN" sz="1800" b="0" i="0" u="none" strike="noStrike" dirty="0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Sai Lakshmi Harshini  Pemmaraju-2620030063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Digital Arithmetic Circuits Matter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processor, microcontroller, and calculator ultimately depends on circuits that can add and subtract binary numbers. Arithmetic Logic Units (ALUs) built from basic gates — XOR, AND, OR, multiplexers, and full adders — form the computational core of digital systems.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4-bit binary arithmetic calculator capable of performing addition and subtraction on two 4-bit operands, using 2's complement logic controlled by a single mode-select line.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029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2259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Electronics / Computer Architecture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880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022592" y="3172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22592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264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Addition, 2's Complement Subtraction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0" y="4023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022592" y="4315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22592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407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gates, 2:1 MUX, Full Adders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5166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022592" y="54589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22592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4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5276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5550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design, embedded &amp; processor datapaths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a Unified Add/Subtract Unit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84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Circuits Waste Resources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4144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distinct adder and subtractor circuits for the same 4-bit operands duplicates hardware unnecessarily.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1168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984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Control 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4144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mode-select mechanism, switching between addition and subtraction requires manual rewiring or separate modules.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87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Propagation Delay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445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bit-by-bit approach does not scale efficiently; a structured ripple-carry chain is needed for correctness across all 4 bits.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11480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087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Scalability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54456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ad-hoc design cannot be easily extended to wider operand sizes or additional arithmetic modes.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4-bit combinational circuit that adds two binary numbers A and 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37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adder to perform subtraction using 2's complement representation.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18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single mode-select control (Add/Sub) using XOR gates and 2:1 multiplexers.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644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218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4-bit ripple-carry chain of full adders with a shared carry-in (Cin).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7000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 operation through truth tables and simulation for all input combinations.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7457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700016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foundational building block used in real ALUs and processor datapaths.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/ EXISTING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Approaches and Their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338560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338560" cy="822960"/>
          </a:xfrm>
          <a:prstGeom prst="rect">
            <a:avLst/>
          </a:prstGeom>
          <a:solidFill>
            <a:srgbClr val="EA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9514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 Based Design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29514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only two single bits with no carry-in support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29514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chained for multi-bit addition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3385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11810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Adder &amp; Subtractor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11810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circuits for addition and subtraction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11810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gate count, no shared control 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338560" cy="822960"/>
          </a:xfrm>
          <a:prstGeom prst="rect">
            <a:avLst/>
          </a:prstGeom>
          <a:solidFill>
            <a:srgbClr val="EAF4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94106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(Bit-Serial) Adder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94106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one bit per clock cycle using a single full adder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94106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unsuitable for real-time calculation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33856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76402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Ripple-Carry Adder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47640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full adders for multi-bit addition only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76402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subtraction; carry delay grows with width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Add/Subtract Calculator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circuit accepts two 4-bit inputs, A and B, and a mode-select signal. XOR gates conditionally invert each bit of B, and 2:1 multiplexers route either B or its complement into a 4-bit ripple-carry adder, with the mode line also feeding the initial carry-in.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661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 line switches between addition and subtraction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2's complement subtraction — no separate subtractor hardware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805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ripple-carry chain with shared Cin for correct multi-bit sums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377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Output-stage multiplexer selects the active result mode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EXISTING SYSTEM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circuit, 2 operations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two separate circuits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control bit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7216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reconfiguration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ripple-carry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slow bit-serial processing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 design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5458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8-bit, 16-bit ALUs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 — Signal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EAF4F6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EAF4F6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(4-bit)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2377440"/>
            <a:ext cx="20116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+ 2:1 MUX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(Complement Logic)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49240" y="2377440"/>
            <a:ext cx="2103120" cy="9601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377440"/>
            <a:ext cx="21031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Adder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F2C14E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141732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(Add/Sub)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2377440"/>
            <a:ext cx="1737360" cy="9601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(Result Select)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95560" y="2377440"/>
            <a:ext cx="1463040" cy="960120"/>
          </a:xfrm>
          <a:prstGeom prst="roundRect">
            <a:avLst>
              <a:gd name="adj" fmla="val 6667"/>
            </a:avLst>
          </a:prstGeom>
          <a:solidFill>
            <a:srgbClr val="EAF4F6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95560" y="2377440"/>
            <a:ext cx="1463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94560" y="2240280"/>
            <a:ext cx="548640" cy="41148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2194560" y="3017520"/>
            <a:ext cx="548640" cy="41148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2852928"/>
            <a:ext cx="594360" cy="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2852928"/>
            <a:ext cx="548640" cy="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78240" y="2194560"/>
            <a:ext cx="0" cy="18288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38360" y="2852928"/>
            <a:ext cx="457200" cy="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feed the complement-logic stage, where the mode line optionally inverts B for subtraction. The (possibly complemented) B, along with A and the propagated carry-in, drive a 4-bit ripple-carry adder. The output multiplexer, also driven by the mode signal, selects the final 4-bit result.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Steps and Working Principle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Inputs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737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4-bit binary numbers A[3:0] and B[3:0], plus a mode-select and Cin control signal.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16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 Stage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of B is XORed with the mode signal; a 2:1 MUX selects between B and B' per bit.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67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Ripple-Carry Addition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full adders are chained — each stage's carry-out feeds the next stage's carry-in.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53128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937760"/>
            <a:ext cx="502920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9194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Selection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892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multiplexer, driven by the mode line, selects the final 4-bit arithmetic result.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Verification via Truth Table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Truth Table — Single-Bit Stage (A, B, Cin → Sum, Cout)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947" y="2148840"/>
            <a:ext cx="11887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947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49667" y="2148840"/>
            <a:ext cx="11887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49667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38387" y="2148840"/>
            <a:ext cx="11887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8387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27107" y="2148840"/>
            <a:ext cx="11887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27107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15827" y="2148840"/>
            <a:ext cx="11887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5827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947" y="251460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0947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49667" y="251460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49667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38387" y="251460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38387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27107" y="251460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27107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5827" y="251460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15827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0947" y="288036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0947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49667" y="288036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49667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38387" y="288036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38387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27107" y="288036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27107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15827" y="288036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15827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0947" y="324612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0947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49667" y="324612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49667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38387" y="324612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538387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27107" y="324612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27107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15827" y="324612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15827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0947" y="36118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0947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349667" y="36118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49667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38387" y="36118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38387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727107" y="36118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727107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915827" y="361188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15827" y="3611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0947" y="397764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60947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349667" y="397764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349667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38387" y="397764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538387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27107" y="397764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727107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915827" y="397764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915827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60947" y="4343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60947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349667" y="4343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349667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538387" y="4343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538387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727107" y="4343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727107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915827" y="4343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915827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60947" y="470916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60947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349667" y="470916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349667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538387" y="470916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538387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727107" y="470916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727107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915827" y="4709160"/>
            <a:ext cx="1188720" cy="365760"/>
          </a:xfrm>
          <a:prstGeom prst="rect">
            <a:avLst/>
          </a:prstGeom>
          <a:solidFill>
            <a:srgbClr val="EAF4F6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915827" y="4709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60947" y="50749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60947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349667" y="50749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349667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2538387" y="50749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538387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727107" y="50749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727107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915827" y="507492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7E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915827" y="5074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F3B239AF-3B5E-A0BD-6489-7947C7235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48" y="1362457"/>
            <a:ext cx="5926506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Achievements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55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 4-bit binary calculator performing both addition and subtraction with a single mode-select 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700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2's complement subtraction using XOR gates and 2:1 multiplexers, avoiding duplicate hardware.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844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correct carry propagation across a 4-bit ripple-carry adder chain through truth-table analysis.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4988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stated objectives were met, producing a compact, extensible building block applicable to larger ALU designs.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914</Words>
  <Application>Microsoft Office PowerPoint</Application>
  <PresentationFormat>Widescreen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Narrow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 T</cp:lastModifiedBy>
  <cp:revision>3</cp:revision>
  <dcterms:created xsi:type="dcterms:W3CDTF">2026-09-22T02:11:34Z</dcterms:created>
  <dcterms:modified xsi:type="dcterms:W3CDTF">2026-09-22T02:28:10Z</dcterms:modified>
</cp:coreProperties>
</file>